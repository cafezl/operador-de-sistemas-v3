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7" r:id="rId2"/>
    <p:sldId id="268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69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41955D-9F1E-42FD-95AC-51D7315FBC1A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91EB8-EA4A-4C8B-8CD1-79D479D24B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7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Arquivo-base: Temas_de_Pesquisa_cópia.pdf, p. 15.</a:t>
            </a:r>
          </a:p>
          <a:p>
            <a:endParaRPr dirty="0"/>
          </a:p>
          <a:p>
            <a:r>
              <a:rPr dirty="0"/>
              <a:t>Uso educacional: IA em saúde apoia profissionais; não substitui avaliação clínica.</a:t>
            </a:r>
          </a:p>
          <a:p>
            <a:r>
              <a:rPr dirty="0"/>
              <a:t>
Imagem: Post News Group, retrato de médica negra em hospital — https://postnewsgroup.com/report-black-women-doctors-are-underrepresented-in-health-care-sector/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3233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Arquivo-base: Temas_de_Pesquisa_cópia.pdf, p. 19 (item 02).</a:t>
            </a:r>
          </a:p>
          <a:p>
            <a:endParaRPr dirty="0"/>
          </a:p>
          <a:p>
            <a:r>
              <a:rPr dirty="0"/>
              <a:t>Uso educacional: IA em saúde apoia profissionais; não substitui avaliação clínica.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0985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032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5A61B971-D79B-462D-AC18-C3A434CA6B33}"/>
              </a:ext>
            </a:extLst>
          </p:cNvPr>
          <p:cNvSpPr>
            <a:spLocks noGrp="1"/>
          </p:cNvSpPr>
          <p:nvPr/>
        </p:nvSpPr>
        <p:spPr>
          <a:xfrm>
            <a:off x="14616" y="0"/>
            <a:ext cx="5842000" cy="9144000"/>
          </a:xfrm>
          <a:prstGeom prst="rect">
            <a:avLst/>
          </a:prstGeom>
          <a:solidFill>
            <a:srgbClr val="05283F"/>
          </a:solidFill>
          <a:ln w="0">
            <a:noFill/>
            <a:prstDash val="solid"/>
          </a:ln>
        </p:spPr>
        <p:txBody>
          <a:bodyPr/>
          <a:lstStyle/>
          <a:p>
            <a:endParaRPr lang="pt-BR" sz="240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03D47A5-6BD9-4E2F-B084-875F598A7218}"/>
              </a:ext>
            </a:extLst>
          </p:cNvPr>
          <p:cNvSpPr>
            <a:spLocks noGrp="1"/>
          </p:cNvSpPr>
          <p:nvPr/>
        </p:nvSpPr>
        <p:spPr>
          <a:xfrm>
            <a:off x="396815" y="312468"/>
            <a:ext cx="4064000" cy="584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21920" tIns="60960" rIns="121920" bIns="60960" anchor="t"/>
          <a:lstStyle/>
          <a:p>
            <a:pPr algn="l">
              <a:buNone/>
              <a:defRPr sz="1350" b="1">
                <a:solidFill>
                  <a:srgbClr val="73D4F6"/>
                </a:solidFill>
              </a:defRPr>
            </a:pPr>
            <a:r>
              <a:rPr sz="4267" b="1" dirty="0">
                <a:solidFill>
                  <a:srgbClr val="73D4F6"/>
                </a:solidFill>
              </a:rPr>
              <a:t>MEDICINA</a:t>
            </a:r>
            <a:endParaRPr lang="pt-BR" sz="4267" b="1" dirty="0">
              <a:solidFill>
                <a:srgbClr val="73D4F6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586A174-D919-48D5-B58F-CAE5D6201CB5}"/>
              </a:ext>
            </a:extLst>
          </p:cNvPr>
          <p:cNvSpPr>
            <a:spLocks noGrp="1"/>
          </p:cNvSpPr>
          <p:nvPr/>
        </p:nvSpPr>
        <p:spPr>
          <a:xfrm>
            <a:off x="396815" y="1316967"/>
            <a:ext cx="5077603" cy="2760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21920" tIns="60960" rIns="121920" bIns="60960" anchor="t"/>
          <a:lstStyle/>
          <a:p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5333" b="1" dirty="0">
                <a:solidFill>
                  <a:srgbClr val="FFFFFF"/>
                </a:solidFill>
              </a:rPr>
              <a:t>Tecnologia que</a:t>
            </a:r>
            <a:endParaRPr lang="pt-BR" sz="5333" b="1" dirty="0">
              <a:solidFill>
                <a:srgbClr val="FFFFFF"/>
              </a:solidFill>
            </a:endParaRPr>
          </a:p>
          <a:p>
            <a:pPr>
              <a:defRPr sz="4350" b="1">
                <a:solidFill>
                  <a:srgbClr val="FFFFFF"/>
                </a:solidFill>
              </a:defRPr>
            </a:pPr>
            <a:r>
              <a:rPr sz="5333" b="1" dirty="0">
                <a:solidFill>
                  <a:srgbClr val="FFFFFF"/>
                </a:solidFill>
              </a:rPr>
              <a:t>ajuda a cuidar</a:t>
            </a:r>
            <a:r>
              <a:rPr lang="pt-BR" sz="5333" b="1" dirty="0">
                <a:solidFill>
                  <a:srgbClr val="FFFFFF"/>
                </a:solidFill>
              </a:rPr>
              <a:t>, e salvar vidas!</a:t>
            </a:r>
            <a:endParaRPr sz="5333" b="1" dirty="0">
              <a:solidFill>
                <a:srgbClr val="FFFFFF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8F24493-A0BB-4BC7-90D7-8EF3D21A23D3}"/>
              </a:ext>
            </a:extLst>
          </p:cNvPr>
          <p:cNvSpPr>
            <a:spLocks noGrp="1"/>
          </p:cNvSpPr>
          <p:nvPr/>
        </p:nvSpPr>
        <p:spPr>
          <a:xfrm>
            <a:off x="376208" y="7708181"/>
            <a:ext cx="5080000" cy="14358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21920" tIns="60960" rIns="121920" bIns="60960" anchor="t"/>
          <a:lstStyle/>
          <a:p>
            <a:pPr algn="l">
              <a:buNone/>
              <a:defRPr sz="1725" b="0">
                <a:solidFill>
                  <a:srgbClr val="CDEAF6"/>
                </a:solidFill>
              </a:defRPr>
            </a:pPr>
            <a:r>
              <a:rPr sz="3200" dirty="0">
                <a:solidFill>
                  <a:srgbClr val="CDEAF6"/>
                </a:solidFill>
              </a:rPr>
              <a:t>Diagnóstico por imagem, triagem e apoio à decisão médica.</a:t>
            </a:r>
            <a:endParaRPr lang="pt-BR" sz="3200" dirty="0">
              <a:solidFill>
                <a:srgbClr val="CDEAF6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54D88CE-468A-4FEF-A5E6-4D59251C41BB}"/>
              </a:ext>
            </a:extLst>
          </p:cNvPr>
          <p:cNvSpPr>
            <a:spLocks noGrp="1"/>
          </p:cNvSpPr>
          <p:nvPr/>
        </p:nvSpPr>
        <p:spPr>
          <a:xfrm>
            <a:off x="396816" y="4292600"/>
            <a:ext cx="4537137" cy="68533"/>
          </a:xfrm>
          <a:prstGeom prst="rect">
            <a:avLst/>
          </a:prstGeom>
          <a:solidFill>
            <a:srgbClr val="73D4F6"/>
          </a:solidFill>
          <a:ln w="0">
            <a:solidFill>
              <a:srgbClr val="73D4F6"/>
            </a:solidFill>
            <a:prstDash val="solid"/>
          </a:ln>
        </p:spPr>
        <p:txBody>
          <a:bodyPr/>
          <a:lstStyle/>
          <a:p>
            <a:endParaRPr lang="pt-BR" sz="240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796E84E-BC37-4E7A-ACF9-FDE6CCDE5F33}"/>
              </a:ext>
            </a:extLst>
          </p:cNvPr>
          <p:cNvSpPr>
            <a:spLocks noGrp="1"/>
          </p:cNvSpPr>
          <p:nvPr/>
        </p:nvSpPr>
        <p:spPr>
          <a:xfrm>
            <a:off x="376209" y="4498198"/>
            <a:ext cx="5089583" cy="23367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21920" tIns="60960" rIns="121920" bIns="60960" anchor="t"/>
          <a:lstStyle/>
          <a:p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3733" b="1" dirty="0">
                <a:solidFill>
                  <a:srgbClr val="FFFFFF"/>
                </a:solidFill>
                <a:latin typeface="Arial"/>
                <a:cs typeface="Arial"/>
              </a:rPr>
              <a:t>Instituição Dom Bosco</a:t>
            </a:r>
            <a:r>
              <a:rPr lang="pt-BR" sz="3733" b="1" dirty="0">
                <a:solidFill>
                  <a:srgbClr val="FFFFFF"/>
                </a:solidFill>
                <a:latin typeface="Arial"/>
                <a:cs typeface="Arial"/>
              </a:rPr>
              <a:t> | </a:t>
            </a:r>
            <a:r>
              <a:rPr sz="3733" b="1" dirty="0">
                <a:solidFill>
                  <a:srgbClr val="FFFFFF"/>
                </a:solidFill>
                <a:latin typeface="Arial"/>
                <a:cs typeface="Arial"/>
              </a:rPr>
              <a:t>Desenvolvimento de Sistemas</a:t>
            </a:r>
            <a:endParaRPr lang="pt-BR" sz="3733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F291091-57B0-4F2B-8308-5E997D0D1058}"/>
              </a:ext>
            </a:extLst>
          </p:cNvPr>
          <p:cNvSpPr>
            <a:spLocks noGrp="1"/>
          </p:cNvSpPr>
          <p:nvPr/>
        </p:nvSpPr>
        <p:spPr>
          <a:xfrm>
            <a:off x="6667500" y="1117600"/>
            <a:ext cx="8636000" cy="6350000"/>
          </a:xfrm>
          <a:prstGeom prst="roundRect">
            <a:avLst>
              <a:gd name="adj" fmla="val 2400"/>
            </a:avLst>
          </a:prstGeom>
          <a:solidFill>
            <a:srgbClr val="EAF7FC"/>
          </a:solidFill>
          <a:ln w="9525">
            <a:solidFill>
              <a:srgbClr val="C8D5DC"/>
            </a:solidFill>
            <a:prstDash val="solid"/>
          </a:ln>
        </p:spPr>
        <p:txBody>
          <a:bodyPr/>
          <a:lstStyle/>
          <a:p>
            <a:endParaRPr lang="pt-BR" sz="2400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312BA71-73B6-47D5-8540-5D83D9C1E088}"/>
              </a:ext>
            </a:extLst>
          </p:cNvPr>
          <p:cNvSpPr>
            <a:spLocks noGrp="1"/>
          </p:cNvSpPr>
          <p:nvPr/>
        </p:nvSpPr>
        <p:spPr>
          <a:xfrm>
            <a:off x="6667500" y="1676400"/>
            <a:ext cx="8636000" cy="660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150" b="0">
                <a:solidFill>
                  <a:srgbClr val="0B82C9"/>
                </a:solidFill>
              </a:defRPr>
            </a:pPr>
            <a:r>
              <a:rPr sz="4200" dirty="0">
                <a:solidFill>
                  <a:srgbClr val="0B82C9"/>
                </a:solidFill>
              </a:rPr>
              <a:t>+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A7176CD-7EC2-46C3-8796-E8780698F21C}"/>
              </a:ext>
            </a:extLst>
          </p:cNvPr>
          <p:cNvSpPr>
            <a:spLocks noGrp="1"/>
          </p:cNvSpPr>
          <p:nvPr/>
        </p:nvSpPr>
        <p:spPr>
          <a:xfrm>
            <a:off x="6667500" y="6832600"/>
            <a:ext cx="8636000" cy="33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476171"/>
                </a:solidFill>
              </a:defRPr>
            </a:pPr>
            <a:r>
              <a:rPr sz="1300" b="1" dirty="0">
                <a:solidFill>
                  <a:srgbClr val="476171"/>
                </a:solidFill>
              </a:rPr>
              <a:t>IMAGEM: PROFISSIONAL + TECNOLOGIA MÉDICA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7DA3A26-7CF3-4DD8-9BC4-CB3A7020E73E}"/>
              </a:ext>
            </a:extLst>
          </p:cNvPr>
          <p:cNvSpPr>
            <a:spLocks noGrp="1"/>
          </p:cNvSpPr>
          <p:nvPr/>
        </p:nvSpPr>
        <p:spPr>
          <a:xfrm>
            <a:off x="6667500" y="7810500"/>
            <a:ext cx="8839200" cy="11620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21920" tIns="60960" rIns="121920" bIns="60960" anchor="t"/>
          <a:lstStyle/>
          <a:p>
            <a:pPr algn="l">
              <a:buNone/>
              <a:defRPr sz="1650" b="1">
                <a:solidFill>
                  <a:srgbClr val="071B2A"/>
                </a:solidFill>
              </a:defRPr>
            </a:pPr>
            <a:r>
              <a:rPr sz="3733" b="1" dirty="0">
                <a:solidFill>
                  <a:srgbClr val="071B2A"/>
                </a:solidFill>
              </a:rPr>
              <a:t>A tecnologia amplia o olhar clínico — a decisão continua humana.</a:t>
            </a:r>
            <a:endParaRPr lang="pt-BR" sz="3733" b="1" dirty="0">
              <a:solidFill>
                <a:srgbClr val="071B2A"/>
              </a:solidFill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D394B70-D187-485D-8813-232D298BA23B}"/>
              </a:ext>
            </a:extLst>
          </p:cNvPr>
          <p:cNvSpPr>
            <a:spLocks noGrp="1"/>
          </p:cNvSpPr>
          <p:nvPr/>
        </p:nvSpPr>
        <p:spPr>
          <a:xfrm>
            <a:off x="0" y="7098342"/>
            <a:ext cx="5842000" cy="821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21920" tIns="60960" rIns="121920" bIns="60960" anchor="t"/>
          <a:lstStyle/>
          <a:p>
            <a:pPr algn="l">
              <a:defRPr sz="1275" b="1">
                <a:solidFill>
                  <a:srgbClr val="CDEAF6"/>
                </a:solidFill>
              </a:defRPr>
            </a:pPr>
            <a:r>
              <a:rPr sz="3200" b="1" dirty="0">
                <a:solidFill>
                  <a:srgbClr val="CDEAF6"/>
                </a:solidFill>
                <a:latin typeface="Arial"/>
                <a:cs typeface="Arial"/>
              </a:rPr>
              <a:t>Professor: Augustinho 🐱🎀</a:t>
            </a:r>
            <a:endParaRPr lang="pt-BR" sz="3200" b="1" dirty="0">
              <a:solidFill>
                <a:srgbClr val="CDEAF6"/>
              </a:solidFill>
              <a:latin typeface="Arial"/>
              <a:cs typeface="Arial"/>
            </a:endParaRP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3"/>
          <a:srcRect l="14543" r="14543"/>
          <a:stretch>
            <a:fillRect/>
          </a:stretch>
        </p:blipFill>
        <p:spPr>
          <a:xfrm>
            <a:off x="6667500" y="1117600"/>
            <a:ext cx="8636000" cy="6350000"/>
          </a:xfrm>
          <a:prstGeom prst="roundRect">
            <a:avLst>
              <a:gd name="adj" fmla="val 2400"/>
            </a:avLst>
          </a:prstGeom>
        </p:spPr>
      </p:pic>
    </p:spTree>
    <p:extLst>
      <p:ext uri="{BB962C8B-B14F-4D97-AF65-F5344CB8AC3E}">
        <p14:creationId xmlns:p14="http://schemas.microsoft.com/office/powerpoint/2010/main" val="355702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451" y="5751385"/>
            <a:ext cx="6999548" cy="3392615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8DF8B347-80D6-4825-A9C0-8553BDDD1604}"/>
              </a:ext>
            </a:extLst>
          </p:cNvPr>
          <p:cNvSpPr>
            <a:spLocks noGrp="1"/>
          </p:cNvSpPr>
          <p:nvPr/>
        </p:nvSpPr>
        <p:spPr>
          <a:xfrm>
            <a:off x="914399" y="398731"/>
            <a:ext cx="1068717" cy="6306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21920" tIns="60960" rIns="121920" bIns="60960" anchor="ctr"/>
          <a:lstStyle/>
          <a:p>
            <a:pPr algn="ctr">
              <a:buNone/>
              <a:defRPr sz="1050" b="1">
                <a:solidFill>
                  <a:srgbClr val="0B82C9"/>
                </a:solidFill>
              </a:defRPr>
            </a:pPr>
            <a:r>
              <a:rPr sz="4267" b="1" dirty="0">
                <a:solidFill>
                  <a:srgbClr val="0B82C9"/>
                </a:solidFill>
              </a:rPr>
              <a:t>02</a:t>
            </a:r>
            <a:endParaRPr lang="pt-BR" sz="4267" b="1" dirty="0">
              <a:solidFill>
                <a:srgbClr val="0B82C9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6FBAA9D-C32B-4C0F-B184-70718755223A}"/>
              </a:ext>
            </a:extLst>
          </p:cNvPr>
          <p:cNvSpPr>
            <a:spLocks noGrp="1"/>
          </p:cNvSpPr>
          <p:nvPr/>
        </p:nvSpPr>
        <p:spPr>
          <a:xfrm>
            <a:off x="1803401" y="398734"/>
            <a:ext cx="4816415" cy="630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21920" tIns="60960" rIns="121920" bIns="60960" anchor="t"/>
          <a:lstStyle/>
          <a:p>
            <a:pPr algn="l">
              <a:buNone/>
              <a:defRPr sz="1050" b="1">
                <a:solidFill>
                  <a:srgbClr val="476171"/>
                </a:solidFill>
              </a:defRPr>
            </a:pPr>
            <a:r>
              <a:rPr sz="3733" b="1" dirty="0">
                <a:solidFill>
                  <a:srgbClr val="476171"/>
                </a:solidFill>
                <a:latin typeface="Arial"/>
                <a:cs typeface="Arial"/>
              </a:rPr>
              <a:t>NOMES DA DUPLA</a:t>
            </a:r>
            <a:endParaRPr lang="pt-BR" sz="3733" b="1" dirty="0">
              <a:solidFill>
                <a:srgbClr val="476171"/>
              </a:solidFill>
              <a:latin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B2054CD-AC0D-4799-9F6C-E558165B4417}"/>
              </a:ext>
            </a:extLst>
          </p:cNvPr>
          <p:cNvSpPr>
            <a:spLocks noGrp="1"/>
          </p:cNvSpPr>
          <p:nvPr/>
        </p:nvSpPr>
        <p:spPr>
          <a:xfrm>
            <a:off x="914400" y="1041400"/>
            <a:ext cx="14427200" cy="25400"/>
          </a:xfrm>
          <a:prstGeom prst="rect">
            <a:avLst/>
          </a:prstGeom>
          <a:solidFill>
            <a:srgbClr val="C8D5DC"/>
          </a:solidFill>
          <a:ln w="0">
            <a:solidFill>
              <a:srgbClr val="C8D5DC"/>
            </a:solidFill>
            <a:prstDash val="solid"/>
          </a:ln>
        </p:spPr>
        <p:txBody>
          <a:bodyPr/>
          <a:lstStyle/>
          <a:p>
            <a:endParaRPr lang="pt-BR" sz="24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1555657-36D5-406A-973B-E8EC8A494738}"/>
              </a:ext>
            </a:extLst>
          </p:cNvPr>
          <p:cNvSpPr>
            <a:spLocks noGrp="1"/>
          </p:cNvSpPr>
          <p:nvPr/>
        </p:nvSpPr>
        <p:spPr>
          <a:xfrm>
            <a:off x="914400" y="1422401"/>
            <a:ext cx="14427200" cy="12474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21920" tIns="60960" rIns="121920" bIns="60960" anchor="t"/>
          <a:lstStyle/>
          <a:p>
            <a:pPr algn="l">
              <a:buNone/>
              <a:defRPr sz="3450" b="1">
                <a:solidFill>
                  <a:srgbClr val="071B2A"/>
                </a:solidFill>
              </a:defRPr>
            </a:pPr>
            <a:r>
              <a:rPr sz="8000" i="1" u="sng" dirty="0">
                <a:solidFill>
                  <a:srgbClr val="071B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Quem apresenta este trabalho?</a:t>
            </a:r>
            <a:endParaRPr lang="pt-BR" sz="8000" i="1" u="sng" dirty="0">
              <a:solidFill>
                <a:srgbClr val="071B2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315A487-5D9E-4D76-81D6-23185A18C68C}"/>
              </a:ext>
            </a:extLst>
          </p:cNvPr>
          <p:cNvSpPr>
            <a:spLocks noGrp="1"/>
          </p:cNvSpPr>
          <p:nvPr/>
        </p:nvSpPr>
        <p:spPr>
          <a:xfrm>
            <a:off x="876060" y="3095925"/>
            <a:ext cx="6858000" cy="2667000"/>
          </a:xfrm>
          <a:prstGeom prst="roundRect">
            <a:avLst>
              <a:gd name="adj" fmla="val 5714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0">
            <a:solidFill>
              <a:schemeClr val="accent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pt-BR" sz="2400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9735F81-52AD-44A9-BB10-828DB2EEF8C5}"/>
              </a:ext>
            </a:extLst>
          </p:cNvPr>
          <p:cNvSpPr>
            <a:spLocks noGrp="1"/>
          </p:cNvSpPr>
          <p:nvPr/>
        </p:nvSpPr>
        <p:spPr>
          <a:xfrm>
            <a:off x="1422401" y="4066396"/>
            <a:ext cx="5571225" cy="11727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21920" tIns="60960" rIns="121920" bIns="60960" anchor="ctr"/>
          <a:lstStyle/>
          <a:p>
            <a:pPr algn="ctr">
              <a:buNone/>
              <a:defRPr sz="2025" b="0">
                <a:solidFill>
                  <a:srgbClr val="071B2A"/>
                </a:solidFill>
              </a:defRPr>
            </a:pPr>
            <a:r>
              <a:rPr lang="pt-BR" sz="5333" dirty="0">
                <a:solidFill>
                  <a:srgbClr val="07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URIEL</a:t>
            </a:r>
            <a:r>
              <a:rPr sz="5333" dirty="0">
                <a:solidFill>
                  <a:srgbClr val="07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CAFE☕</a:t>
            </a:r>
            <a:endParaRPr lang="pt-BR" sz="5333" dirty="0">
              <a:solidFill>
                <a:srgbClr val="071B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E2A601A-F33E-43A5-BE1E-76695EF5CF53}"/>
              </a:ext>
            </a:extLst>
          </p:cNvPr>
          <p:cNvSpPr>
            <a:spLocks noGrp="1"/>
          </p:cNvSpPr>
          <p:nvPr/>
        </p:nvSpPr>
        <p:spPr>
          <a:xfrm>
            <a:off x="8391411" y="3095925"/>
            <a:ext cx="6858000" cy="2667000"/>
          </a:xfrm>
          <a:prstGeom prst="roundRect">
            <a:avLst>
              <a:gd name="adj" fmla="val 5132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pt-BR" sz="24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3065562-185D-45D7-A845-F31F50C882A6}"/>
              </a:ext>
            </a:extLst>
          </p:cNvPr>
          <p:cNvSpPr>
            <a:spLocks noGrp="1"/>
          </p:cNvSpPr>
          <p:nvPr/>
        </p:nvSpPr>
        <p:spPr>
          <a:xfrm>
            <a:off x="914401" y="5756697"/>
            <a:ext cx="9383620" cy="33873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21920" tIns="60960" rIns="121920" bIns="60960" anchor="t"/>
          <a:lstStyle/>
          <a:p>
            <a:pPr>
              <a:defRPr sz="1425" b="0">
                <a:solidFill>
                  <a:srgbClr val="476171"/>
                </a:solidFill>
              </a:defRPr>
            </a:pPr>
            <a:r>
              <a:rPr sz="5733" b="1" i="1" dirty="0">
                <a:solidFill>
                  <a:srgbClr val="476171"/>
                </a:solidFill>
              </a:rPr>
              <a:t>Instituição Dom Bosco </a:t>
            </a:r>
            <a:endParaRPr lang="pt-BR" sz="5733" b="1" i="1" dirty="0">
              <a:solidFill>
                <a:srgbClr val="476171"/>
              </a:solidFill>
            </a:endParaRPr>
          </a:p>
          <a:p>
            <a:pPr>
              <a:defRPr sz="1425" b="0">
                <a:solidFill>
                  <a:srgbClr val="476171"/>
                </a:solidFill>
              </a:defRPr>
            </a:pPr>
            <a:r>
              <a:rPr sz="5733" b="1" i="1" dirty="0">
                <a:solidFill>
                  <a:srgbClr val="476171"/>
                </a:solidFill>
              </a:rPr>
              <a:t>Desenvolvimento de Sistemas </a:t>
            </a:r>
            <a:endParaRPr lang="pt-BR" sz="5733" b="1" i="1" dirty="0">
              <a:solidFill>
                <a:srgbClr val="476171"/>
              </a:solidFill>
            </a:endParaRPr>
          </a:p>
          <a:p>
            <a:pPr>
              <a:defRPr sz="1425" b="0">
                <a:solidFill>
                  <a:srgbClr val="476171"/>
                </a:solidFill>
              </a:defRPr>
            </a:pPr>
            <a:r>
              <a:rPr sz="5733" b="1" i="1" dirty="0">
                <a:solidFill>
                  <a:srgbClr val="476171"/>
                </a:solidFill>
              </a:rPr>
              <a:t>Prof. Augustinho</a:t>
            </a:r>
            <a:endParaRPr lang="pt-BR" sz="5733" b="1" i="1" dirty="0">
              <a:solidFill>
                <a:srgbClr val="476171"/>
              </a:solidFill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9C84AC0-46F7-07B7-498E-87E14D190D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2276" y="5910268"/>
            <a:ext cx="2498297" cy="1449501"/>
          </a:xfrm>
          <a:prstGeom prst="rect">
            <a:avLst/>
          </a:prstGeom>
        </p:spPr>
      </p:pic>
      <p:pic>
        <p:nvPicPr>
          <p:cNvPr id="15" name="Imagem 14" descr="Transparent Gif GIFs | Tenor">
            <a:extLst>
              <a:ext uri="{FF2B5EF4-FFF2-40B4-BE49-F238E27FC236}">
                <a16:creationId xmlns:a16="http://schemas.microsoft.com/office/drawing/2014/main" id="{E5A2C959-E99B-682E-766A-C51CC09385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7691" y="7591245"/>
            <a:ext cx="2868760" cy="10056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5366C4-B603-CFB1-51FD-09AD814ACE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7691" y="3249283"/>
            <a:ext cx="1211869" cy="101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63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46" b="99324" l="1205" r="9903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200" y="457916"/>
            <a:ext cx="4876800" cy="8695980"/>
          </a:xfrm>
          <a:prstGeom prst="rect">
            <a:avLst/>
          </a:prstGeom>
        </p:spPr>
      </p:pic>
      <p:pic>
        <p:nvPicPr>
          <p:cNvPr id="5" name="Imagem 4" descr="Hello Kitty USB PC Companion | Gadgetsin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75521" l="0" r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3163">
            <a:off x="12032604" y="2421633"/>
            <a:ext cx="3075781" cy="2362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: Cantos Arredondados 5">
            <a:extLst>
              <a:ext uri="{FF2B5EF4-FFF2-40B4-BE49-F238E27FC236}">
                <a16:creationId xmlns:a16="http://schemas.microsoft.com/office/drawing/2014/main" id="{3434E9F7-C405-4C93-8BA1-00DD11C7174A}"/>
              </a:ext>
            </a:extLst>
          </p:cNvPr>
          <p:cNvSpPr>
            <a:spLocks noGrp="1"/>
          </p:cNvSpPr>
          <p:nvPr/>
        </p:nvSpPr>
        <p:spPr>
          <a:xfrm>
            <a:off x="3629" y="6164036"/>
            <a:ext cx="4394200" cy="2952750"/>
          </a:xfrm>
          <a:prstGeom prst="roundRect">
            <a:avLst>
              <a:gd name="adj" fmla="val 5000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>
            <a:solidFill>
              <a:srgbClr val="C8D5DC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144</Words>
  <Application>Microsoft Office PowerPoint</Application>
  <PresentationFormat>Personalizar</PresentationFormat>
  <Paragraphs>25</Paragraphs>
  <Slides>11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DB</dc:creator>
  <cp:lastModifiedBy>DB</cp:lastModifiedBy>
  <cp:revision>5</cp:revision>
  <dcterms:created xsi:type="dcterms:W3CDTF">2006-08-16T00:00:00Z</dcterms:created>
  <dcterms:modified xsi:type="dcterms:W3CDTF">2026-08-24T22:52:27Z</dcterms:modified>
</cp:coreProperties>
</file>